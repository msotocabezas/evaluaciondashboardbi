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07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1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2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3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5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4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6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7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8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9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10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11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12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 explicar brevemente la idea central de la diapositiva 13 y conectar con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75488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10512" y="612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8D9EA"/>
                </a:solidFill>
              </a:rPr>
              <a:t>Universidad Católica del Maule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9EA"/>
                </a:solidFill>
              </a:rPr>
              <a:t>Magíster en Data Science · Business Intelligence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2834640" y="2606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Plataforma de Business Intelligence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834640" y="32918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CE8F4"/>
                </a:solidFill>
              </a:rPr>
              <a:t>para apoyar la elección de carreras y la planificación educativa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3154680"/>
            <a:ext cx="205740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257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9CDE2"/>
                </a:solidFill>
              </a:rPr>
              <a:t>Alejandro Peñaloza · Martín Soto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9CDE2"/>
                </a:solidFill>
              </a:rPr>
              <a:t>Profesor: Dr. Marcelo Rodríguez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9CDE2"/>
                </a:solidFill>
              </a:rPr>
              <a:t>27 de </a:t>
            </a:r>
            <a:r>
              <a:rPr lang="en-US" sz="1150" dirty="0" err="1">
                <a:solidFill>
                  <a:srgbClr val="B9CDE2"/>
                </a:solidFill>
              </a:rPr>
              <a:t>julio</a:t>
            </a:r>
            <a:r>
              <a:rPr lang="en-US" sz="1150" dirty="0">
                <a:solidFill>
                  <a:srgbClr val="B9CDE2"/>
                </a:solidFill>
              </a:rPr>
              <a:t> de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Problema: información dispersa para una decisión crítica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Comparar carreras exige mirar variables académicas, económicas y territoriales de forma conjunta.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C8A"/>
                </a:solidFill>
              </a:rPr>
              <a:t>SITUACIÓN ACTUAL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48920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253143"/>
                </a:solidFill>
              </a:rPr>
              <a:t>Oferta muy amplia de instituciones, carreras, sedes, jornadas y modalidades.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253143"/>
                </a:solidFill>
              </a:rPr>
              <a:t>Datos distribuidos en múltiples portales, archivos y formatos.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500" dirty="0">
                <a:solidFill>
                  <a:srgbClr val="253143"/>
                </a:solidFill>
              </a:rPr>
              <a:t>La decisión combina vocación, costo, empleabilidad, ingreso, ubicación y puntajes.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46520" y="1371600"/>
            <a:ext cx="2148840" cy="777240"/>
          </a:xfrm>
          <a:prstGeom prst="roundRect">
            <a:avLst/>
          </a:prstGeom>
          <a:solidFill>
            <a:srgbClr val="0B7C8A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1. Mi Futuro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Empleabilidad, ingresos y aranceles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0" y="1371600"/>
            <a:ext cx="2148840" cy="777240"/>
          </a:xfrm>
          <a:prstGeom prst="roundRect">
            <a:avLst/>
          </a:prstGeom>
          <a:solidFill>
            <a:srgbClr val="2B6CB0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2. SIES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Matrícula, titulados y retención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2148840" cy="777240"/>
          </a:xfrm>
          <a:prstGeom prst="roundRect">
            <a:avLst/>
          </a:prstGeom>
          <a:solidFill>
            <a:srgbClr val="F28E2B"/>
          </a:solidFill>
          <a:ln w="8890">
            <a:solidFill>
              <a:srgbClr val="F28E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3. DEMRE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Puntajes y admisión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0" y="2514600"/>
            <a:ext cx="2148840" cy="777240"/>
          </a:xfrm>
          <a:prstGeom prst="roundRect">
            <a:avLst/>
          </a:prstGeom>
          <a:solidFill>
            <a:srgbClr val="665AA7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4. CNA / MINEDUC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Acreditación y datos institucionales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0" y="4709160"/>
            <a:ext cx="3657600" cy="658368"/>
          </a:xfrm>
          <a:prstGeom prst="roundRect">
            <a:avLst/>
          </a:prstGeom>
          <a:solidFill>
            <a:srgbClr val="17375E"/>
          </a:solidFill>
          <a:ln w="8890">
            <a:solidFill>
              <a:srgbClr val="1737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Necesidad: una plataforma BI única, clara y comparable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Objetivo del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Integrar datos públicos y convertirlos en información útil para tomar decisiones.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10607040" cy="804672"/>
          </a:xfrm>
          <a:prstGeom prst="roundRect">
            <a:avLst/>
          </a:prstGeom>
          <a:solidFill>
            <a:srgbClr val="EAF2FA"/>
          </a:solidFill>
          <a:ln w="8890">
            <a:solidFill>
              <a:srgbClr val="D5E4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75E"/>
                </a:solidFill>
              </a:rPr>
              <a:t>Desarrollar una plataforma capaz de integrar múltiples fuentes públicas para apoyar la elección de carreras y la planificación educativa mediante indicadores, modelos analíticos y visualizaciones interactivas.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3317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1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Integrar fuentes públicas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Empleabilidad, ingresos, acreditación, puntajes y territorio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3566160" y="2880360"/>
            <a:ext cx="23317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2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Diseñar proceso ETL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Extraer, limpiar, transformar e integrar datos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355080" y="2880360"/>
            <a:ext cx="23317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2B8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3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Construir KPIs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ROI, costo, puntajes, retención, titulación y demanda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144000" y="2880360"/>
            <a:ext cx="233172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4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Implementar dashboard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53143"/>
                </a:solidFill>
              </a:rPr>
              <a:t>Filtros dinámicos y vistas por perfil de usuario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Metodología CRISP-DM aplicada al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Una estructura ordenada para pasar del problema al prototipo.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502920" cy="457200"/>
          </a:xfrm>
          <a:prstGeom prst="roundRect">
            <a:avLst/>
          </a:prstGeom>
          <a:solidFill>
            <a:srgbClr val="0B7C8A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00200" y="2057400"/>
            <a:ext cx="5029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Business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Understanding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77489"/>
                </a:solidFill>
              </a:rPr>
              <a:t>Usuarios, decisiones e indicadores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2926080" y="1828800"/>
            <a:ext cx="502920" cy="457200"/>
          </a:xfrm>
          <a:prstGeom prst="roundRect">
            <a:avLst/>
          </a:prstGeom>
          <a:solidFill>
            <a:srgbClr val="2B6CB0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2057400"/>
            <a:ext cx="5029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46888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Data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Understanding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233172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77489"/>
                </a:solidFill>
              </a:rPr>
              <a:t>Bases, granularidad y calidad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502920" cy="457200"/>
          </a:xfrm>
          <a:prstGeom prst="roundRect">
            <a:avLst/>
          </a:prstGeom>
          <a:solidFill>
            <a:srgbClr val="F2B84B"/>
          </a:solidFill>
          <a:ln w="8890">
            <a:solidFill>
              <a:srgbClr val="F2B8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40680" y="2057400"/>
            <a:ext cx="5029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38912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Data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Preparation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25196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77489"/>
                </a:solidFill>
              </a:rPr>
              <a:t>Limpieza e integración ETL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502920" cy="457200"/>
          </a:xfrm>
          <a:prstGeom prst="roundRect">
            <a:avLst/>
          </a:prstGeom>
          <a:solidFill>
            <a:srgbClr val="665AA7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0920" y="2057400"/>
            <a:ext cx="5029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30936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Modeling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17220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77489"/>
                </a:solidFill>
              </a:rPr>
              <a:t>Recomendador, ingresos y clusters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8686800" y="1828800"/>
            <a:ext cx="502920" cy="457200"/>
          </a:xfrm>
          <a:prstGeom prst="roundRect">
            <a:avLst/>
          </a:prstGeom>
          <a:solidFill>
            <a:srgbClr val="3E8F62"/>
          </a:solidFill>
          <a:ln w="8890">
            <a:solidFill>
              <a:srgbClr val="3E8F6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81160" y="2057400"/>
            <a:ext cx="5029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2960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Evaluation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809244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77489"/>
                </a:solidFill>
              </a:rPr>
              <a:t>Métricas por modelo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10607040" y="1828800"/>
            <a:ext cx="502920" cy="457200"/>
          </a:xfrm>
          <a:prstGeom prst="roundRect">
            <a:avLst/>
          </a:prstGeom>
          <a:solidFill>
            <a:srgbClr val="F28E2B"/>
          </a:solidFill>
          <a:ln w="8890">
            <a:solidFill>
              <a:srgbClr val="F28E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4984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3143"/>
                </a:solidFill>
              </a:rPr>
              <a:t>Deployment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001268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77489"/>
                </a:solidFill>
              </a:rPr>
              <a:t>Streamlit y propuesta Power BI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3108960" y="4892040"/>
            <a:ext cx="5989320" cy="594360"/>
          </a:xfrm>
          <a:prstGeom prst="roundRect">
            <a:avLst/>
          </a:prstGeom>
          <a:solidFill>
            <a:srgbClr val="17375E"/>
          </a:solidFill>
          <a:ln w="8890">
            <a:solidFill>
              <a:srgbClr val="1737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Resultado: pipeline trazable + modelos persistidos + visualización interactiva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Usuarios objetivo y decisiones que apoya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La misma base de datos responde preguntas distintas según el actor.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371600"/>
            <a:ext cx="475488" cy="475488"/>
          </a:xfrm>
          <a:prstGeom prst="roundRect">
            <a:avLst/>
          </a:prstGeom>
          <a:solidFill>
            <a:srgbClr val="0B7C8A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4081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143"/>
                </a:solidFill>
              </a:rPr>
              <a:t>Estudiantes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33756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75E"/>
                </a:solidFill>
              </a:rPr>
              <a:t>¿Qué carrera calza con mis intereses, puntaje y proyección laboral?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1636776"/>
            <a:ext cx="64008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13816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77489"/>
                </a:solidFill>
              </a:rPr>
              <a:t>Recomendación, empleabilidad, ingresos y puntaje referencial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749808" y="2487168"/>
            <a:ext cx="475488" cy="475488"/>
          </a:xfrm>
          <a:prstGeom prst="roundRect">
            <a:avLst/>
          </a:prstGeom>
          <a:solidFill>
            <a:srgbClr val="F28E2B"/>
          </a:solidFill>
          <a:ln w="8890">
            <a:solidFill>
              <a:srgbClr val="F28E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237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143"/>
                </a:solidFill>
              </a:rPr>
              <a:t>Apoderados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3756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75E"/>
                </a:solidFill>
              </a:rPr>
              <a:t>¿Cuánto cuesta estudiar y en cuántos años se recupera la inversión?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69480" y="2752344"/>
            <a:ext cx="64008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13816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77489"/>
                </a:solidFill>
              </a:rPr>
              <a:t>Costo total, ROI, ubicación e ingreso esperado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749808" y="3602736"/>
            <a:ext cx="475488" cy="475488"/>
          </a:xfrm>
          <a:prstGeom prst="roundRect">
            <a:avLst/>
          </a:prstGeom>
          <a:solidFill>
            <a:srgbClr val="2B6CB0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639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143"/>
                </a:solidFill>
              </a:rPr>
              <a:t>Profesores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337560" y="3602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75E"/>
                </a:solidFill>
              </a:rPr>
              <a:t>¿Cómo orientar con evidencia y no solo con percepciones?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3867912"/>
            <a:ext cx="64008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138160" y="36027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77489"/>
                </a:solidFill>
              </a:rPr>
              <a:t>PAES, retención, titulación y duración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749808" y="4718304"/>
            <a:ext cx="475488" cy="475488"/>
          </a:xfrm>
          <a:prstGeom prst="roundRect">
            <a:avLst/>
          </a:prstGeom>
          <a:solidFill>
            <a:srgbClr val="665AA7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754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143"/>
                </a:solidFill>
              </a:rPr>
              <a:t>Jefes UTP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337560" y="4718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75E"/>
                </a:solidFill>
              </a:rPr>
              <a:t>¿Dónde existen brechas entre oferta, demanda y planificación escolar?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69480" y="4983480"/>
            <a:ext cx="64008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138160" y="4718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77489"/>
                </a:solidFill>
              </a:rPr>
              <a:t>Demanda por área, vacantes, matrícula y empleabilidad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Fuentes de datos y unidad de análisis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La plataforma integra fuentes públicas con distintas granularidades.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2651760" cy="411480"/>
          </a:xfrm>
          <a:prstGeom prst="rect">
            <a:avLst/>
          </a:prstGeom>
          <a:solidFill>
            <a:srgbClr val="17375E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Fuente / 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37560" y="1325880"/>
            <a:ext cx="2926080" cy="411480"/>
          </a:xfrm>
          <a:prstGeom prst="rect">
            <a:avLst/>
          </a:prstGeom>
          <a:solidFill>
            <a:srgbClr val="17375E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Granularidad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5257800" cy="411480"/>
          </a:xfrm>
          <a:prstGeom prst="rect">
            <a:avLst/>
          </a:prstGeom>
          <a:solidFill>
            <a:srgbClr val="17375E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Aporte al proyecto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53143"/>
                </a:solidFill>
              </a:rPr>
              <a:t>Carreras SIES / Mi Futuro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2926080" cy="566928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143"/>
                </a:solidFill>
              </a:rPr>
              <a:t>Carrera × institución × sede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143"/>
                </a:solidFill>
              </a:rPr>
              <a:t>≈ 9.900 filas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63640" y="1737360"/>
            <a:ext cx="5257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53143"/>
                </a:solidFill>
              </a:rPr>
              <a:t>Oferta, aranceles, puntajes, sede y jornada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85800" y="2304288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53143"/>
                </a:solidFill>
              </a:rPr>
              <a:t>Empleabilidad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3337560" y="2304288"/>
            <a:ext cx="2926080" cy="566928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143"/>
                </a:solidFill>
              </a:rPr>
              <a:t>Carrera genérica × institución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143"/>
                </a:solidFill>
              </a:rPr>
              <a:t>1.690 combinaciones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2304288"/>
            <a:ext cx="5257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53143"/>
                </a:solidFill>
              </a:rPr>
              <a:t>Ingresos, empleabilidad, retención y duración real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85800" y="2871216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53143"/>
                </a:solidFill>
              </a:rPr>
              <a:t>Instituciones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3337560" y="2871216"/>
            <a:ext cx="2926080" cy="566928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143"/>
                </a:solidFill>
              </a:rPr>
              <a:t>Institución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143"/>
                </a:solidFill>
              </a:rPr>
              <a:t>121 filas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63640" y="2871216"/>
            <a:ext cx="5257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53143"/>
                </a:solidFill>
              </a:rPr>
              <a:t>Acreditación, tipo, ubicación e infraestructura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85800" y="3438144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53143"/>
                </a:solidFill>
              </a:rPr>
              <a:t>Estadísticas carrera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3337560" y="3438144"/>
            <a:ext cx="2926080" cy="566928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143"/>
                </a:solidFill>
              </a:rPr>
              <a:t>Carrera genérica × tipo institución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143"/>
                </a:solidFill>
              </a:rPr>
              <a:t>252 combinaciones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3438144"/>
            <a:ext cx="5257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253143"/>
                </a:solidFill>
              </a:rPr>
              <a:t>Valores agregados oficiales para completar brechas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2057400" y="4800600"/>
            <a:ext cx="2194560" cy="685800"/>
          </a:xfrm>
          <a:prstGeom prst="roundRect">
            <a:avLst/>
          </a:prstGeom>
          <a:solidFill>
            <a:srgbClr val="0B7C8A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165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carreras genéricas consolidadas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5138928"/>
            <a:ext cx="105156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035040" y="4800600"/>
            <a:ext cx="2194560" cy="685800"/>
          </a:xfrm>
          <a:prstGeom prst="roundRect">
            <a:avLst/>
          </a:prstGeom>
          <a:solidFill>
            <a:srgbClr val="F2B84B"/>
          </a:solidFill>
          <a:ln w="8890">
            <a:solidFill>
              <a:srgbClr val="F2B8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252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combos oficiales de ingresos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Preparación de datos y proceso ETL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El notebook 01_DataPreparation.ipynb asegura que el dashboard use datos consistentes.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828800" cy="914400"/>
          </a:xfrm>
          <a:prstGeom prst="roundRect">
            <a:avLst/>
          </a:prstGeom>
          <a:solidFill>
            <a:srgbClr val="0B7C8A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Extracción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4 bases públicas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SIES / Mi Futuro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87752" y="2286000"/>
            <a:ext cx="2743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53512" y="1828800"/>
            <a:ext cx="1828800" cy="914400"/>
          </a:xfrm>
          <a:prstGeom prst="roundRect">
            <a:avLst/>
          </a:prstGeom>
          <a:solidFill>
            <a:srgbClr val="2B6CB0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Limpieza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Nulos, tipos 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nombres de columnas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55464" y="2286000"/>
            <a:ext cx="2743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221224" y="1828800"/>
            <a:ext cx="1828800" cy="914400"/>
          </a:xfrm>
          <a:prstGeom prst="roundRect">
            <a:avLst/>
          </a:prstGeom>
          <a:solidFill>
            <a:srgbClr val="F2B84B"/>
          </a:solidFill>
          <a:ln w="8890">
            <a:solidFill>
              <a:srgbClr val="F2B8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Transformación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UF → CLP e ingresos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tramo a valor medio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23176" y="2286000"/>
            <a:ext cx="2743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88936" y="1828800"/>
            <a:ext cx="1828800" cy="914400"/>
          </a:xfrm>
          <a:prstGeom prst="roundRect">
            <a:avLst/>
          </a:prstGeom>
          <a:solidFill>
            <a:srgbClr val="665AA7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Integración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Llaves por institución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y carrera genérica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390888" y="2286000"/>
            <a:ext cx="274320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756648" y="1828800"/>
            <a:ext cx="1828800" cy="914400"/>
          </a:xfrm>
          <a:prstGeom prst="roundRect">
            <a:avLst/>
          </a:prstGeom>
          <a:solidFill>
            <a:srgbClr val="3E8F62"/>
          </a:solidFill>
          <a:ln w="8890">
            <a:solidFill>
              <a:srgbClr val="3E8F6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Exportación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CSV / Parquet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para dashboard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C8A"/>
                </a:solidFill>
              </a:rPr>
              <a:t>REGLAS DE CALIDAD RELEVANTES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4315968"/>
            <a:ext cx="99669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253143"/>
                </a:solidFill>
              </a:rPr>
              <a:t>No imputar ingresos o empleabilidad sin justificación: se muestra ausencia de dato.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253143"/>
                </a:solidFill>
              </a:rPr>
              <a:t>Valores agregados oficiales se usan con bandera de trazabilidad _relleno_agregado.</a:t>
            </a:r>
            <a:endParaRPr lang="en-US" sz="1350" dirty="0"/>
          </a:p>
          <a:p>
            <a:pPr marL="127000" indent="-127000">
              <a:buSzPct val="100000"/>
              <a:buChar char="•"/>
            </a:pPr>
            <a:r>
              <a:rPr lang="en-US" sz="1350" dirty="0">
                <a:solidFill>
                  <a:srgbClr val="253143"/>
                </a:solidFill>
              </a:rPr>
              <a:t>Vacantes ≤ 5 se tratan como no confiables para evitar falsa alta demanda.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Indicadores e ingeniería de características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Los KPI se seleccionan según la decisión que cada usuario debe tomar.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28346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1. Empleabilidad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1° y 2° año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Resultados laborales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4526280" y="1371600"/>
            <a:ext cx="28346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2. Ingreso bruto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promedio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Proyección económica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275320" y="1371600"/>
            <a:ext cx="28346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28E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3. ROI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educativo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Costo / retorno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28346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4. Puntaje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de corte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Exigencia de ingreso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526280" y="2724912"/>
            <a:ext cx="28346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3E8F6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5. Retención y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titulación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Permanencia y avance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275320" y="2724912"/>
            <a:ext cx="28346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2B8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6. Demanda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por área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253143"/>
                </a:solidFill>
              </a:rPr>
              <a:t>Planificación UTP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C8A"/>
                </a:solidFill>
              </a:rPr>
              <a:t>VARIABLES DERIVADAS PARA MODELOS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10698480" cy="822960"/>
          </a:xfrm>
          <a:prstGeom prst="roundRect">
            <a:avLst/>
          </a:prstGeom>
          <a:solidFill>
            <a:srgbClr val="EAF2FA"/>
          </a:solidFill>
          <a:ln w="8890">
            <a:solidFill>
              <a:srgbClr val="D5E4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375E"/>
                </a:solidFill>
              </a:rPr>
              <a:t>Promedios ponderados por titulados o matrícula según indicador · costo total · ingreso al 4° año · empleabilidad · retención · brecha de duración · variables categóricas codificadas · variables numéricas estandarizadas para clustering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Modelado analítico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Tres componentes convierten los datos integrados en apoyo a la decisión.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30632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53143"/>
                </a:solidFill>
              </a:rPr>
              <a:t>1. Recomendador de carreras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53143"/>
                </a:solidFill>
              </a:rPr>
              <a:t>Reglas auditables con score: 40% empleabilidad, 40% ingreso, 20% selectividad alcanzable.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617720" y="1508760"/>
            <a:ext cx="30632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53143"/>
                </a:solidFill>
              </a:rPr>
              <a:t>2. Predicción de ingresos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53143"/>
                </a:solidFill>
              </a:rPr>
              <a:t>Estima ingreso bruto mensual al 4° año por carrera, área y tipo de institución.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412480" y="1508760"/>
            <a:ext cx="3063240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253143"/>
                </a:solidFill>
              </a:rPr>
              <a:t>3. Segmentación de carreras</a:t>
            </a:r>
            <a:endParaRPr lang="en-US" sz="1320" dirty="0"/>
          </a:p>
          <a:p>
            <a:pPr marL="0" indent="0" algn="ctr">
              <a:buNone/>
            </a:pP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253143"/>
                </a:solidFill>
              </a:rPr>
              <a:t>K-Means sobre costo, ingreso, empleabilidad, retención y brecha de duración.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874520" y="4892040"/>
            <a:ext cx="8458200" cy="594360"/>
          </a:xfrm>
          <a:prstGeom prst="roundRect">
            <a:avLst/>
          </a:prstGeom>
          <a:solidFill>
            <a:srgbClr val="17375E"/>
          </a:solidFill>
          <a:ln w="8890">
            <a:solidFill>
              <a:srgbClr val="1737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Los artefactos se guardan con joblib para que Streamlit solo los cargue, sin reentrenar.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Evaluación de modelos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Se usaron métricas distintas según la naturaleza de cada modelo.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13232" y="1307592"/>
            <a:ext cx="2331720" cy="987552"/>
          </a:xfrm>
          <a:prstGeom prst="roundRect">
            <a:avLst/>
          </a:prstGeom>
          <a:solidFill>
            <a:srgbClr val="17375E"/>
          </a:solidFill>
          <a:ln w="8890">
            <a:solidFill>
              <a:srgbClr val="1737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R²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0,456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Predicción ingresos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47872" y="1307592"/>
            <a:ext cx="2331720" cy="987552"/>
          </a:xfrm>
          <a:prstGeom prst="roundRect">
            <a:avLst/>
          </a:prstGeom>
          <a:solidFill>
            <a:srgbClr val="0B7C8A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MAE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$246.519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Error absoluto medio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82512" y="1307592"/>
            <a:ext cx="2331720" cy="987552"/>
          </a:xfrm>
          <a:prstGeom prst="roundRect">
            <a:avLst/>
          </a:prstGeom>
          <a:solidFill>
            <a:srgbClr val="F28E2B"/>
          </a:solidFill>
          <a:ln w="8890">
            <a:solidFill>
              <a:srgbClr val="F28E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MAPE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16,5%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Error porcentual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17152" y="1307592"/>
            <a:ext cx="2331720" cy="987552"/>
          </a:xfrm>
          <a:prstGeom prst="roundRect">
            <a:avLst/>
          </a:prstGeom>
          <a:solidFill>
            <a:srgbClr val="665AA7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Silhouette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0,2955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Mejor k observado: 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143"/>
                </a:solidFill>
              </a:rPr>
              <a:t>Segmentos resultantes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3246120"/>
            <a:ext cx="1965960" cy="384048"/>
          </a:xfrm>
          <a:prstGeom prst="rect">
            <a:avLst/>
          </a:prstGeom>
          <a:solidFill>
            <a:srgbClr val="17375E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Indicador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24912" y="3246120"/>
            <a:ext cx="1371600" cy="384048"/>
          </a:xfrm>
          <a:prstGeom prst="rect">
            <a:avLst/>
          </a:prstGeom>
          <a:solidFill>
            <a:srgbClr val="17375E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Seg. 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96512" y="3246120"/>
            <a:ext cx="1417320" cy="384048"/>
          </a:xfrm>
          <a:prstGeom prst="rect">
            <a:avLst/>
          </a:prstGeom>
          <a:solidFill>
            <a:srgbClr val="17375E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Seg.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" y="3630168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Registros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724912" y="3630168"/>
            <a:ext cx="1371600" cy="347472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93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096512" y="3630168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65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58952" y="397764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Costo total promedio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724912" y="3977640"/>
            <a:ext cx="1371600" cy="347472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$11,6 MM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096512" y="397764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$28,2 MM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58952" y="4325112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Ingreso al 4° año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724912" y="4325112"/>
            <a:ext cx="1371600" cy="347472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$1,19 MM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096512" y="4325112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$1,93 MM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58952" y="4672584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Empleabilidad 1er año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724912" y="4672584"/>
            <a:ext cx="1371600" cy="347472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62%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096512" y="4672584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77%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58952" y="5020056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Retención 1er año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2724912" y="5020056"/>
            <a:ext cx="1371600" cy="347472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75%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096512" y="5020056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79%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58952" y="5367528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Brecha duración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2724912" y="5367528"/>
            <a:ext cx="1371600" cy="347472"/>
          </a:xfrm>
          <a:prstGeom prst="rect">
            <a:avLst/>
          </a:prstGeom>
          <a:solidFill>
            <a:srgbClr val="FAFBFD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1,72 sem.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096512" y="5367528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5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53143"/>
                </a:solidFill>
              </a:rPr>
              <a:t>3,44 sem.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400800" y="28803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B7C8A"/>
                </a:solidFill>
              </a:rPr>
              <a:t>LECTURA DE NEGOCIO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0" y="3246120"/>
            <a:ext cx="48920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143"/>
                </a:solidFill>
              </a:rPr>
              <a:t>El modelo de ingresos es útil para extrapolar combinaciones no publicadas.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143"/>
                </a:solidFill>
              </a:rPr>
              <a:t>La segmentación diferencia perfiles de costo, retorno y empleabilidad.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53143"/>
                </a:solidFill>
              </a:rPr>
              <a:t>El recomendador usa Precisión@5 y cobertura, porque no existe una etiqueta de “carrera correcta”.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Dashboard y visualizaciones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El prototipo Streamlit se organiza en vistas alineadas a los perfiles de usuario.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292608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1737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1. Inicio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Resumen general de indicadores clave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4434840" y="1371600"/>
            <a:ext cx="292608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2. Estudiante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Empleabilidad, ingresos y puntajes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8183880" y="1371600"/>
            <a:ext cx="292608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28E2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3. Apoderado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Costo, ROI y dispersión de ingresos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92608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4. Profesor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PAES, duración, retención y oferta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434840" y="2697480"/>
            <a:ext cx="292608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5. Jefe UTP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Matrícula, vacantes y demanda por área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8183880" y="2697480"/>
            <a:ext cx="2926080" cy="8412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3E8F6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6. Modelos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Recomendación, predicción y clusters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234440" y="4709160"/>
            <a:ext cx="9738360" cy="841248"/>
          </a:xfrm>
          <a:prstGeom prst="roundRect">
            <a:avLst/>
          </a:prstGeom>
          <a:solidFill>
            <a:srgbClr val="17375E"/>
          </a:solidFill>
          <a:ln w="8890">
            <a:solidFill>
              <a:srgbClr val="1737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Filtros comunes: buscador de carreras + área del conocimiento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Visualizaciones interactivas con Plotly · modo claro/oscuro · pestañas de simulación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Despliegue propuesto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Separar datos, modelos y presentación permite actualizar la plataforma sin rehacer el dashboard.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2240280" cy="1298448"/>
          </a:xfrm>
          <a:prstGeom prst="roundRect">
            <a:avLst/>
          </a:prstGeom>
          <a:solidFill>
            <a:srgbClr val="2B6CB0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Notebooks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01_DataPreparation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02_Modeling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03_Evaluation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08960" y="2468880"/>
            <a:ext cx="301752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566160" y="1828800"/>
            <a:ext cx="2240280" cy="1298448"/>
          </a:xfrm>
          <a:prstGeom prst="roundRect">
            <a:avLst/>
          </a:prstGeom>
          <a:solidFill>
            <a:srgbClr val="0B7C8A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Artefactos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Data/Clean/*.parquet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Models/*.joblib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97880" y="2468880"/>
            <a:ext cx="301752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55080" y="1828800"/>
            <a:ext cx="2240280" cy="1298448"/>
          </a:xfrm>
          <a:prstGeom prst="roundRect">
            <a:avLst/>
          </a:prstGeom>
          <a:solidFill>
            <a:srgbClr val="665AA7"/>
          </a:solidFill>
          <a:ln w="8890">
            <a:solidFill>
              <a:srgbClr val="665AA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Dashboard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Streamlit local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dashboard_destino_academico.py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0" y="2468880"/>
            <a:ext cx="301752" cy="0"/>
          </a:xfrm>
          <a:prstGeom prst="line">
            <a:avLst/>
          </a:prstGeom>
          <a:noFill/>
          <a:ln w="15240">
            <a:solidFill>
              <a:srgbClr val="67748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0" y="1828800"/>
            <a:ext cx="2240280" cy="1298448"/>
          </a:xfrm>
          <a:prstGeom prst="roundRect">
            <a:avLst/>
          </a:prstGeom>
          <a:solidFill>
            <a:srgbClr val="3E8F62"/>
          </a:solidFill>
          <a:ln w="8890">
            <a:solidFill>
              <a:srgbClr val="3E8F6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Producción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Streamlit Cloud / servidor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 conexión Power BI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28800" y="4343400"/>
            <a:ext cx="8503920" cy="566928"/>
          </a:xfrm>
          <a:prstGeom prst="roundRect">
            <a:avLst/>
          </a:prstGeom>
          <a:solidFill>
            <a:srgbClr val="17375E"/>
          </a:solidFill>
          <a:ln w="8890">
            <a:solidFill>
              <a:srgbClr val="1737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@st.cache_data y @st.cache_resource evitan recomputar datos y modelos en cada interacción.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74520" y="5166360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677489"/>
                </a:solidFill>
              </a:rPr>
              <a:t>Actualización futura: cuando SIES/Mi Futuro publique nuevas bases, se recalculan los artefactos offline y el dashboard solo refresca las tablas enriquecidas.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75E"/>
                </a:solidFill>
              </a:rPr>
              <a:t>Aspectos éticos y cierre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2344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10512" y="758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77489"/>
                </a:solidFill>
              </a:rPr>
              <a:t>La plataforma apoya la decisión, pero no reemplaza la orientación vocacional.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484632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B7C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1. Datos anonimizados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Reglas de exclusión para pocos casos generan faltantes no aleatorios.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484632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B6CB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2. Transparencia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Trazabilidad de datos rellenados y vigencia SIES/Mi Futuro 2025–2026.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84632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2B8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3. No prescriptivo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El score complementa intereses, capacidades y orientación humana.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309360" y="2743200"/>
            <a:ext cx="484632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555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4. Sesgos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253143"/>
                </a:solidFill>
              </a:rPr>
              <a:t>PAES y arancel pueden reflejar brechas socioeconómicas existentes.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10149840" cy="914400"/>
          </a:xfrm>
          <a:prstGeom prst="roundRect">
            <a:avLst/>
          </a:prstGeom>
          <a:solidFill>
            <a:srgbClr val="17375E"/>
          </a:solidFill>
          <a:ln w="8890">
            <a:solidFill>
              <a:srgbClr val="1737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Conclusión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El proyecto demuestra que una plataforma BI puede transformar datos públicos dispersos en información accionable para estudiantes, familias y establecimientos educacionales.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77489"/>
                </a:solidFill>
              </a:rPr>
              <a:t>Informe Final BI · Plataforma para elección de carreras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384280" y="6492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77489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1613</Words>
  <Application>Microsoft Office PowerPoint</Application>
  <PresentationFormat>Panorámica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Católica del Maule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BI para elección de carreras</dc:title>
  <dc:subject>Presentación basada en informe final BI</dc:subject>
  <dc:creator>OpenAI</dc:creator>
  <cp:lastModifiedBy>Alejandro N. Peñaloza Ponce</cp:lastModifiedBy>
  <cp:revision>2</cp:revision>
  <dcterms:created xsi:type="dcterms:W3CDTF">2026-07-27T18:07:49Z</dcterms:created>
  <dcterms:modified xsi:type="dcterms:W3CDTF">2026-07-27T18:16:18Z</dcterms:modified>
</cp:coreProperties>
</file>